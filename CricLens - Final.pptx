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Alexandria Medium" charset="1" panose="00000000000000000000"/>
      <p:regular r:id="rId12"/>
    </p:embeddedFont>
    <p:embeddedFont>
      <p:font typeface="Arimo Bold" charset="1" panose="020B0704020202020204"/>
      <p:regular r:id="rId13"/>
    </p:embeddedFont>
    <p:embeddedFont>
      <p:font typeface="Arimo Italics" charset="1" panose="020B0604020202090204"/>
      <p:regular r:id="rId14"/>
    </p:embeddedFont>
    <p:embeddedFont>
      <p:font typeface="Arimo" charset="1" panose="020B0604020202020204"/>
      <p:regular r:id="rId15"/>
    </p:embeddedFont>
    <p:embeddedFont>
      <p:font typeface="Alexandria Light" charset="1" panose="0000000000000000000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4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svg" Type="http://schemas.openxmlformats.org/officeDocument/2006/relationships/image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jpe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7850238" y="3846166"/>
            <a:ext cx="9445523" cy="914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63"/>
              </a:lnSpc>
            </a:pPr>
            <a:r>
              <a:rPr lang="en-US" sz="54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CricLens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850238" y="5081140"/>
            <a:ext cx="9445523" cy="1330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1"/>
              </a:lnSpc>
            </a:pPr>
            <a:r>
              <a:rPr lang="en-US" sz="2199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An Intelligent IPL Analytics &amp; Decision Support Platform</a:t>
            </a:r>
          </a:p>
          <a:p>
            <a:pPr algn="l">
              <a:lnSpc>
                <a:spcPts val="3511"/>
              </a:lnSpc>
            </a:pPr>
            <a:r>
              <a:rPr lang="en-US" sz="2199" i="true">
                <a:solidFill>
                  <a:srgbClr val="5B6E8C"/>
                </a:solidFill>
                <a:latin typeface="Arimo Italics"/>
                <a:ea typeface="Arimo Italics"/>
                <a:cs typeface="Arimo Italics"/>
                <a:sym typeface="Arimo Italics"/>
              </a:rPr>
              <a:t>From Every Ball to Every Insight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777183"/>
            <a:ext cx="16303523" cy="61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7"/>
              </a:lnSpc>
            </a:pPr>
            <a:r>
              <a:rPr lang="en-US" sz="36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Title &amp; Team Details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55164" y="1583531"/>
            <a:ext cx="5678243" cy="7907093"/>
            <a:chOff x="0" y="0"/>
            <a:chExt cx="7570991" cy="1054279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570978" cy="10542778"/>
            </a:xfrm>
            <a:custGeom>
              <a:avLst/>
              <a:gdLst/>
              <a:ahLst/>
              <a:cxnLst/>
              <a:rect r="r" b="b" t="t" l="l"/>
              <a:pathLst>
                <a:path h="10542778" w="7570978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lnTo>
                    <a:pt x="6961378" y="0"/>
                  </a:lnTo>
                  <a:cubicBezTo>
                    <a:pt x="7298055" y="0"/>
                    <a:pt x="7570978" y="272923"/>
                    <a:pt x="7570978" y="609600"/>
                  </a:cubicBezTo>
                  <a:lnTo>
                    <a:pt x="7570978" y="9933178"/>
                  </a:lnTo>
                  <a:cubicBezTo>
                    <a:pt x="7570978" y="10269855"/>
                    <a:pt x="7298055" y="10542778"/>
                    <a:pt x="6961378" y="10542778"/>
                  </a:cubicBezTo>
                  <a:lnTo>
                    <a:pt x="609600" y="10542778"/>
                  </a:lnTo>
                  <a:cubicBezTo>
                    <a:pt x="272923" y="10542778"/>
                    <a:pt x="0" y="10269855"/>
                    <a:pt x="0" y="9933178"/>
                  </a:cubicBezTo>
                  <a:close/>
                </a:path>
              </a:pathLst>
            </a:custGeom>
            <a:solidFill>
              <a:srgbClr val="AAE4FE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45664" y="3803599"/>
            <a:ext cx="5297243" cy="307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Team Members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5664" y="4210202"/>
            <a:ext cx="5297243" cy="116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8"/>
              </a:lnSpc>
            </a:pPr>
            <a:r>
              <a:rPr lang="en-US" sz="150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Amitesh Ram</a:t>
            </a:r>
          </a:p>
          <a:p>
            <a:pPr algn="l">
              <a:lnSpc>
                <a:spcPts val="1998"/>
              </a:lnSpc>
            </a:pPr>
            <a:r>
              <a:rPr lang="en-US" sz="1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24BDS1030</a:t>
            </a:r>
          </a:p>
          <a:p>
            <a:pPr algn="l">
              <a:lnSpc>
                <a:spcPts val="1998"/>
              </a:lnSpc>
            </a:pPr>
            <a:r>
              <a:rPr lang="en-US" sz="150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Barath T</a:t>
            </a:r>
          </a:p>
          <a:p>
            <a:pPr algn="l">
              <a:lnSpc>
                <a:spcPts val="1998"/>
              </a:lnSpc>
            </a:pPr>
            <a:r>
              <a:rPr lang="en-US" sz="1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24BDS1178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45664" y="5564686"/>
            <a:ext cx="5297243" cy="28575"/>
            <a:chOff x="0" y="0"/>
            <a:chExt cx="7062991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062978" cy="38100"/>
            </a:xfrm>
            <a:custGeom>
              <a:avLst/>
              <a:gdLst/>
              <a:ahLst/>
              <a:cxnLst/>
              <a:rect r="r" b="b" t="t" l="l"/>
              <a:pathLst>
                <a:path h="38100" w="7062978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7043928" y="0"/>
                  </a:lnTo>
                  <a:cubicBezTo>
                    <a:pt x="7054469" y="0"/>
                    <a:pt x="7062978" y="8509"/>
                    <a:pt x="7062978" y="19050"/>
                  </a:cubicBezTo>
                  <a:cubicBezTo>
                    <a:pt x="7062978" y="29591"/>
                    <a:pt x="7054469" y="38100"/>
                    <a:pt x="7043928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000000">
                <a:alpha val="24706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45664" y="5775274"/>
            <a:ext cx="5297243" cy="307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Project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5664" y="6181877"/>
            <a:ext cx="6211643" cy="283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8"/>
              </a:lnSpc>
            </a:pPr>
            <a:r>
              <a:rPr lang="en-US" sz="1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CricLens — IPL Analytics &amp; Decision Support Platform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5664" y="6583709"/>
            <a:ext cx="5297243" cy="307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Course Submission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45664" y="6990312"/>
            <a:ext cx="6211643" cy="283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8"/>
              </a:lnSpc>
            </a:pPr>
            <a:r>
              <a:rPr lang="en-US" sz="1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Big Data Science · VIT University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70506" y="1702003"/>
            <a:ext cx="10434638" cy="3071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GitHub Profiles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870506" y="2153098"/>
            <a:ext cx="10434638" cy="3534670"/>
            <a:chOff x="0" y="0"/>
            <a:chExt cx="13912850" cy="4712894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3912850" cy="4712843"/>
            </a:xfrm>
            <a:custGeom>
              <a:avLst/>
              <a:gdLst/>
              <a:ahLst/>
              <a:cxnLst/>
              <a:rect r="r" b="b" t="t" l="l"/>
              <a:pathLst>
                <a:path h="4712843" w="13912850">
                  <a:moveTo>
                    <a:pt x="0" y="0"/>
                  </a:moveTo>
                  <a:lnTo>
                    <a:pt x="13912850" y="0"/>
                  </a:lnTo>
                  <a:lnTo>
                    <a:pt x="13912850" y="4712843"/>
                  </a:lnTo>
                  <a:lnTo>
                    <a:pt x="0" y="4712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9" r="0" b="-10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870506" y="5831681"/>
            <a:ext cx="10434638" cy="3515020"/>
            <a:chOff x="0" y="0"/>
            <a:chExt cx="13912850" cy="4686694"/>
          </a:xfrm>
        </p:grpSpPr>
        <p:sp>
          <p:nvSpPr>
            <p:cNvPr name="Freeform 21" id="21" descr="preencoded.png"/>
            <p:cNvSpPr/>
            <p:nvPr/>
          </p:nvSpPr>
          <p:spPr>
            <a:xfrm flipH="false" flipV="false" rot="0">
              <a:off x="0" y="0"/>
              <a:ext cx="13912850" cy="4686681"/>
            </a:xfrm>
            <a:custGeom>
              <a:avLst/>
              <a:gdLst/>
              <a:ahLst/>
              <a:cxnLst/>
              <a:rect r="r" b="b" t="t" l="l"/>
              <a:pathLst>
                <a:path h="4686681" w="13912850">
                  <a:moveTo>
                    <a:pt x="0" y="0"/>
                  </a:moveTo>
                  <a:lnTo>
                    <a:pt x="13912850" y="0"/>
                  </a:lnTo>
                  <a:lnTo>
                    <a:pt x="13912850" y="4686681"/>
                  </a:lnTo>
                  <a:lnTo>
                    <a:pt x="0" y="46866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08" r="0" b="-108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782536"/>
            <a:ext cx="16303523" cy="808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15"/>
              </a:lnSpc>
            </a:pPr>
            <a:r>
              <a:rPr lang="en-US" sz="4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Motivation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38" y="2152802"/>
            <a:ext cx="7843685" cy="39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The Problem</a:t>
            </a:r>
          </a:p>
        </p:txBody>
      </p:sp>
      <p:sp>
        <p:nvSpPr>
          <p:cNvPr name="Freeform 8" id="8" descr="preencoded.png"/>
          <p:cNvSpPr/>
          <p:nvPr/>
        </p:nvSpPr>
        <p:spPr>
          <a:xfrm flipH="false" flipV="false" rot="0">
            <a:off x="992238" y="2800350"/>
            <a:ext cx="3809400" cy="3103512"/>
          </a:xfrm>
          <a:custGeom>
            <a:avLst/>
            <a:gdLst/>
            <a:ahLst/>
            <a:cxnLst/>
            <a:rect r="r" b="b" t="t" l="l"/>
            <a:pathLst>
              <a:path h="3103512" w="3809400">
                <a:moveTo>
                  <a:pt x="0" y="0"/>
                </a:moveTo>
                <a:lnTo>
                  <a:pt x="3809400" y="0"/>
                </a:lnTo>
                <a:lnTo>
                  <a:pt x="3809400" y="3103512"/>
                </a:lnTo>
                <a:lnTo>
                  <a:pt x="0" y="310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" r="0" b="-18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87526" y="3081338"/>
            <a:ext cx="31331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Massive, Underutilized Data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87526" y="4028627"/>
            <a:ext cx="31331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19 years, 250+ matches, 150K+ balls annually — yet insights remain buried and inaccessible</a:t>
            </a:r>
          </a:p>
        </p:txBody>
      </p:sp>
      <p:sp>
        <p:nvSpPr>
          <p:cNvPr name="Freeform 11" id="11" descr="preencoded.png"/>
          <p:cNvSpPr/>
          <p:nvPr/>
        </p:nvSpPr>
        <p:spPr>
          <a:xfrm flipH="false" flipV="false" rot="0">
            <a:off x="5026523" y="2800350"/>
            <a:ext cx="3809400" cy="3103512"/>
          </a:xfrm>
          <a:custGeom>
            <a:avLst/>
            <a:gdLst/>
            <a:ahLst/>
            <a:cxnLst/>
            <a:rect r="r" b="b" t="t" l="l"/>
            <a:pathLst>
              <a:path h="3103512" w="3809400">
                <a:moveTo>
                  <a:pt x="0" y="0"/>
                </a:moveTo>
                <a:lnTo>
                  <a:pt x="3809400" y="0"/>
                </a:lnTo>
                <a:lnTo>
                  <a:pt x="3809400" y="3103512"/>
                </a:lnTo>
                <a:lnTo>
                  <a:pt x="0" y="310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" r="0" b="-18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421811" y="3081338"/>
            <a:ext cx="31331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Fragmented Intelligence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421811" y="4028627"/>
            <a:ext cx="31331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Stats scattered across platforms with no way to correlate player, team, and venue data meaningfully</a:t>
            </a:r>
          </a:p>
        </p:txBody>
      </p:sp>
      <p:sp>
        <p:nvSpPr>
          <p:cNvPr name="Freeform 14" id="14" descr="preencoded.png"/>
          <p:cNvSpPr/>
          <p:nvPr/>
        </p:nvSpPr>
        <p:spPr>
          <a:xfrm flipH="false" flipV="false" rot="0">
            <a:off x="992238" y="6128737"/>
            <a:ext cx="3809400" cy="3103512"/>
          </a:xfrm>
          <a:custGeom>
            <a:avLst/>
            <a:gdLst/>
            <a:ahLst/>
            <a:cxnLst/>
            <a:rect r="r" b="b" t="t" l="l"/>
            <a:pathLst>
              <a:path h="3103512" w="3809400">
                <a:moveTo>
                  <a:pt x="0" y="0"/>
                </a:moveTo>
                <a:lnTo>
                  <a:pt x="3809400" y="0"/>
                </a:lnTo>
                <a:lnTo>
                  <a:pt x="3809400" y="3103512"/>
                </a:lnTo>
                <a:lnTo>
                  <a:pt x="0" y="310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" r="0" b="-18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87526" y="6409734"/>
            <a:ext cx="31331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Intuition Over Evidence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87526" y="7357024"/>
            <a:ext cx="31331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Coaches and analysts rely on gut feel rather than structured, data-driven decision support</a:t>
            </a:r>
          </a:p>
        </p:txBody>
      </p:sp>
      <p:sp>
        <p:nvSpPr>
          <p:cNvPr name="Freeform 17" id="17" descr="preencoded.png"/>
          <p:cNvSpPr/>
          <p:nvPr/>
        </p:nvSpPr>
        <p:spPr>
          <a:xfrm flipH="false" flipV="false" rot="0">
            <a:off x="5026523" y="6128737"/>
            <a:ext cx="3809400" cy="3103512"/>
          </a:xfrm>
          <a:custGeom>
            <a:avLst/>
            <a:gdLst/>
            <a:ahLst/>
            <a:cxnLst/>
            <a:rect r="r" b="b" t="t" l="l"/>
            <a:pathLst>
              <a:path h="3103512" w="3809400">
                <a:moveTo>
                  <a:pt x="0" y="0"/>
                </a:moveTo>
                <a:lnTo>
                  <a:pt x="3809400" y="0"/>
                </a:lnTo>
                <a:lnTo>
                  <a:pt x="3809400" y="3103512"/>
                </a:lnTo>
                <a:lnTo>
                  <a:pt x="0" y="310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18" r="0" b="-18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5421811" y="6409734"/>
            <a:ext cx="31331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No Unified Source of Truth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421811" y="7357024"/>
            <a:ext cx="31331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Coaches, analysts, and fans each need one authoritative platform — and none currently exists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61602" y="2152802"/>
            <a:ext cx="7843685" cy="39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Why IPL?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456839" y="2795588"/>
            <a:ext cx="3818934" cy="3074937"/>
            <a:chOff x="0" y="0"/>
            <a:chExt cx="5091913" cy="40999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091938" cy="4099941"/>
            </a:xfrm>
            <a:custGeom>
              <a:avLst/>
              <a:gdLst/>
              <a:ahLst/>
              <a:cxnLst/>
              <a:rect r="r" b="b" t="t" l="l"/>
              <a:pathLst>
                <a:path h="4099941" w="5091938">
                  <a:moveTo>
                    <a:pt x="0" y="506603"/>
                  </a:moveTo>
                  <a:cubicBezTo>
                    <a:pt x="0" y="226822"/>
                    <a:pt x="226822" y="0"/>
                    <a:pt x="506603" y="0"/>
                  </a:cubicBezTo>
                  <a:lnTo>
                    <a:pt x="4585335" y="0"/>
                  </a:lnTo>
                  <a:cubicBezTo>
                    <a:pt x="4865116" y="0"/>
                    <a:pt x="5091938" y="226822"/>
                    <a:pt x="5091938" y="506603"/>
                  </a:cubicBezTo>
                  <a:lnTo>
                    <a:pt x="5091938" y="3593338"/>
                  </a:lnTo>
                  <a:cubicBezTo>
                    <a:pt x="5091938" y="3873119"/>
                    <a:pt x="4865116" y="4099941"/>
                    <a:pt x="4585335" y="4099941"/>
                  </a:cubicBezTo>
                  <a:lnTo>
                    <a:pt x="506603" y="4099941"/>
                  </a:lnTo>
                  <a:cubicBezTo>
                    <a:pt x="226822" y="4099941"/>
                    <a:pt x="0" y="3873119"/>
                    <a:pt x="0" y="3593338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23539" y="3062288"/>
            <a:ext cx="32855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Rich, Structured Data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23539" y="4009577"/>
            <a:ext cx="32855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Ball-by-ball records, player stats, and venue conditions — publicly available and well-documented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3491124" y="2795588"/>
            <a:ext cx="3818934" cy="3074937"/>
            <a:chOff x="0" y="0"/>
            <a:chExt cx="5091913" cy="40999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91938" cy="4099941"/>
            </a:xfrm>
            <a:custGeom>
              <a:avLst/>
              <a:gdLst/>
              <a:ahLst/>
              <a:cxnLst/>
              <a:rect r="r" b="b" t="t" l="l"/>
              <a:pathLst>
                <a:path h="4099941" w="5091938">
                  <a:moveTo>
                    <a:pt x="0" y="506603"/>
                  </a:moveTo>
                  <a:cubicBezTo>
                    <a:pt x="0" y="226822"/>
                    <a:pt x="226822" y="0"/>
                    <a:pt x="506603" y="0"/>
                  </a:cubicBezTo>
                  <a:lnTo>
                    <a:pt x="4585335" y="0"/>
                  </a:lnTo>
                  <a:cubicBezTo>
                    <a:pt x="4865116" y="0"/>
                    <a:pt x="5091938" y="226822"/>
                    <a:pt x="5091938" y="506603"/>
                  </a:cubicBezTo>
                  <a:lnTo>
                    <a:pt x="5091938" y="3593338"/>
                  </a:lnTo>
                  <a:cubicBezTo>
                    <a:pt x="5091938" y="3873119"/>
                    <a:pt x="4865116" y="4099941"/>
                    <a:pt x="4585335" y="4099941"/>
                  </a:cubicBezTo>
                  <a:lnTo>
                    <a:pt x="506603" y="4099941"/>
                  </a:lnTo>
                  <a:cubicBezTo>
                    <a:pt x="226822" y="4099941"/>
                    <a:pt x="0" y="3873119"/>
                    <a:pt x="0" y="3593338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3757824" y="3062288"/>
            <a:ext cx="32855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T20 Strategic Complexity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757824" y="4009577"/>
            <a:ext cx="32855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The format demands split-second tactical decisions where analytics delivers measurable edge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456839" y="6085875"/>
            <a:ext cx="3818934" cy="3074937"/>
            <a:chOff x="0" y="0"/>
            <a:chExt cx="5091913" cy="409991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091938" cy="4099941"/>
            </a:xfrm>
            <a:custGeom>
              <a:avLst/>
              <a:gdLst/>
              <a:ahLst/>
              <a:cxnLst/>
              <a:rect r="r" b="b" t="t" l="l"/>
              <a:pathLst>
                <a:path h="4099941" w="5091938">
                  <a:moveTo>
                    <a:pt x="0" y="506603"/>
                  </a:moveTo>
                  <a:cubicBezTo>
                    <a:pt x="0" y="226822"/>
                    <a:pt x="226822" y="0"/>
                    <a:pt x="506603" y="0"/>
                  </a:cubicBezTo>
                  <a:lnTo>
                    <a:pt x="4585335" y="0"/>
                  </a:lnTo>
                  <a:cubicBezTo>
                    <a:pt x="4865116" y="0"/>
                    <a:pt x="5091938" y="226822"/>
                    <a:pt x="5091938" y="506603"/>
                  </a:cubicBezTo>
                  <a:lnTo>
                    <a:pt x="5091938" y="3593338"/>
                  </a:lnTo>
                  <a:cubicBezTo>
                    <a:pt x="5091938" y="3873119"/>
                    <a:pt x="4865116" y="4099941"/>
                    <a:pt x="4585335" y="4099941"/>
                  </a:cubicBezTo>
                  <a:lnTo>
                    <a:pt x="506603" y="4099941"/>
                  </a:lnTo>
                  <a:cubicBezTo>
                    <a:pt x="226822" y="4099941"/>
                    <a:pt x="0" y="3873119"/>
                    <a:pt x="0" y="3593338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9723539" y="6352584"/>
            <a:ext cx="3285534" cy="394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400M+ Global Fans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3539" y="6905330"/>
            <a:ext cx="32855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Deeper insights drive engagement, viewership, and commercial value at an enormous scale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491124" y="6085875"/>
            <a:ext cx="3818934" cy="3074937"/>
            <a:chOff x="0" y="0"/>
            <a:chExt cx="5091913" cy="40999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091938" cy="4099941"/>
            </a:xfrm>
            <a:custGeom>
              <a:avLst/>
              <a:gdLst/>
              <a:ahLst/>
              <a:cxnLst/>
              <a:rect r="r" b="b" t="t" l="l"/>
              <a:pathLst>
                <a:path h="4099941" w="5091938">
                  <a:moveTo>
                    <a:pt x="0" y="506603"/>
                  </a:moveTo>
                  <a:cubicBezTo>
                    <a:pt x="0" y="226822"/>
                    <a:pt x="226822" y="0"/>
                    <a:pt x="506603" y="0"/>
                  </a:cubicBezTo>
                  <a:lnTo>
                    <a:pt x="4585335" y="0"/>
                  </a:lnTo>
                  <a:cubicBezTo>
                    <a:pt x="4865116" y="0"/>
                    <a:pt x="5091938" y="226822"/>
                    <a:pt x="5091938" y="506603"/>
                  </a:cubicBezTo>
                  <a:lnTo>
                    <a:pt x="5091938" y="3593338"/>
                  </a:lnTo>
                  <a:cubicBezTo>
                    <a:pt x="5091938" y="3873119"/>
                    <a:pt x="4865116" y="4099941"/>
                    <a:pt x="4585335" y="4099941"/>
                  </a:cubicBezTo>
                  <a:lnTo>
                    <a:pt x="506603" y="4099941"/>
                  </a:lnTo>
                  <a:cubicBezTo>
                    <a:pt x="226822" y="4099941"/>
                    <a:pt x="0" y="3873119"/>
                    <a:pt x="0" y="3593338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13757824" y="6352584"/>
            <a:ext cx="3285534" cy="7890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High-Stakes Business Impact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757824" y="7299874"/>
            <a:ext cx="3285534" cy="1594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2"/>
              </a:lnSpc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Teams invest millions per season — superior analytics translates directly to competitive advantage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863794"/>
            <a:ext cx="16303523" cy="545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18"/>
              </a:lnSpc>
            </a:pPr>
            <a:r>
              <a:rPr lang="en-US" sz="33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Project Objectives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38" y="1580255"/>
            <a:ext cx="17217923" cy="243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3"/>
              </a:lnSpc>
            </a:pPr>
            <a:r>
              <a:rPr lang="en-US" sz="1299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A rigorous data science pipeline — from raw ball-by-ball records to an interactive decision support platform.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38" y="3111846"/>
            <a:ext cx="10453392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System Architecture Pipeline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3255" y="3487188"/>
            <a:ext cx="10331206" cy="4728267"/>
            <a:chOff x="0" y="0"/>
            <a:chExt cx="13774941" cy="6304356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13774928" cy="6304407"/>
            </a:xfrm>
            <a:custGeom>
              <a:avLst/>
              <a:gdLst/>
              <a:ahLst/>
              <a:cxnLst/>
              <a:rect r="r" b="b" t="t" l="l"/>
              <a:pathLst>
                <a:path h="6304407" w="13774928">
                  <a:moveTo>
                    <a:pt x="0" y="0"/>
                  </a:moveTo>
                  <a:lnTo>
                    <a:pt x="13774928" y="0"/>
                  </a:lnTo>
                  <a:lnTo>
                    <a:pt x="13774928" y="6304407"/>
                  </a:lnTo>
                  <a:lnTo>
                    <a:pt x="0" y="63044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43" r="0" b="-42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8963920" y="6896300"/>
            <a:ext cx="1939614" cy="756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0"/>
              </a:lnSpc>
            </a:pPr>
            <a:r>
              <a:rPr lang="en-US" sz="23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Statistical Modeling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19472" y="6896300"/>
            <a:ext cx="1939614" cy="756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0"/>
              </a:lnSpc>
            </a:pPr>
            <a:r>
              <a:rPr lang="en-US" sz="23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Feature Engineering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88311" y="7083123"/>
            <a:ext cx="1939614" cy="383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0"/>
              </a:lnSpc>
            </a:pPr>
            <a:r>
              <a:rPr lang="en-US" sz="23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Exploratory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04010" y="6896300"/>
            <a:ext cx="1939614" cy="756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0"/>
              </a:lnSpc>
            </a:pPr>
            <a:r>
              <a:rPr lang="en-US" sz="23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Ingest &amp; Clean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865921" y="2035673"/>
            <a:ext cx="5439223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Analytics Modules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61159" y="2406253"/>
            <a:ext cx="5448748" cy="1762125"/>
            <a:chOff x="0" y="0"/>
            <a:chExt cx="7264997" cy="23495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264908" cy="2349500"/>
            </a:xfrm>
            <a:custGeom>
              <a:avLst/>
              <a:gdLst/>
              <a:ahLst/>
              <a:cxnLst/>
              <a:rect r="r" b="b" t="t" l="l"/>
              <a:pathLst>
                <a:path h="2349500" w="7264908">
                  <a:moveTo>
                    <a:pt x="0" y="338455"/>
                  </a:moveTo>
                  <a:cubicBezTo>
                    <a:pt x="0" y="151511"/>
                    <a:pt x="151511" y="0"/>
                    <a:pt x="338455" y="0"/>
                  </a:cubicBezTo>
                  <a:lnTo>
                    <a:pt x="6926453" y="0"/>
                  </a:lnTo>
                  <a:cubicBezTo>
                    <a:pt x="7113397" y="0"/>
                    <a:pt x="7264908" y="151511"/>
                    <a:pt x="7264908" y="338455"/>
                  </a:cubicBezTo>
                  <a:lnTo>
                    <a:pt x="7264908" y="2011045"/>
                  </a:lnTo>
                  <a:cubicBezTo>
                    <a:pt x="7264908" y="2197989"/>
                    <a:pt x="7113397" y="2349500"/>
                    <a:pt x="6926453" y="2349500"/>
                  </a:cubicBezTo>
                  <a:lnTo>
                    <a:pt x="338455" y="2349500"/>
                  </a:lnTo>
                  <a:cubicBezTo>
                    <a:pt x="151511" y="2349500"/>
                    <a:pt x="0" y="2197989"/>
                    <a:pt x="0" y="2011045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2043772" y="2588866"/>
            <a:ext cx="504977" cy="504977"/>
            <a:chOff x="0" y="0"/>
            <a:chExt cx="673303" cy="6733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73354" cy="673354"/>
            </a:xfrm>
            <a:custGeom>
              <a:avLst/>
              <a:gdLst/>
              <a:ahLst/>
              <a:cxnLst/>
              <a:rect r="r" b="b" t="t" l="l"/>
              <a:pathLst>
                <a:path h="673354" w="673354">
                  <a:moveTo>
                    <a:pt x="0" y="336677"/>
                  </a:moveTo>
                  <a:cubicBezTo>
                    <a:pt x="0" y="150749"/>
                    <a:pt x="150749" y="0"/>
                    <a:pt x="336677" y="0"/>
                  </a:cubicBezTo>
                  <a:cubicBezTo>
                    <a:pt x="522605" y="0"/>
                    <a:pt x="673354" y="150749"/>
                    <a:pt x="673354" y="336677"/>
                  </a:cubicBezTo>
                  <a:cubicBezTo>
                    <a:pt x="673354" y="522605"/>
                    <a:pt x="522605" y="673354"/>
                    <a:pt x="336677" y="673354"/>
                  </a:cubicBezTo>
                  <a:cubicBezTo>
                    <a:pt x="150749" y="673354"/>
                    <a:pt x="0" y="522605"/>
                    <a:pt x="0" y="336677"/>
                  </a:cubicBez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Freeform 20" id="20" descr="preencoded.png"/>
          <p:cNvSpPr/>
          <p:nvPr/>
        </p:nvSpPr>
        <p:spPr>
          <a:xfrm flipH="false" flipV="false" rot="0">
            <a:off x="12182627" y="2727569"/>
            <a:ext cx="227257" cy="227257"/>
          </a:xfrm>
          <a:custGeom>
            <a:avLst/>
            <a:gdLst/>
            <a:ahLst/>
            <a:cxnLst/>
            <a:rect r="r" b="b" t="t" l="l"/>
            <a:pathLst>
              <a:path h="227257" w="227257">
                <a:moveTo>
                  <a:pt x="0" y="0"/>
                </a:moveTo>
                <a:lnTo>
                  <a:pt x="227257" y="0"/>
                </a:lnTo>
                <a:lnTo>
                  <a:pt x="227257" y="227257"/>
                </a:lnTo>
                <a:lnTo>
                  <a:pt x="0" y="227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8332" r="0" b="-8336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2043772" y="3193704"/>
            <a:ext cx="5083521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Player Intelligence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043772" y="3527974"/>
            <a:ext cx="5083521" cy="457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3"/>
              </a:lnSpc>
            </a:pPr>
            <a:r>
              <a:rPr lang="en-US" sz="1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Consistency analysis, phase-wise performance, custom impact score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861159" y="4258713"/>
            <a:ext cx="5448748" cy="1547517"/>
            <a:chOff x="0" y="0"/>
            <a:chExt cx="7264997" cy="20633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265162" cy="2063369"/>
            </a:xfrm>
            <a:custGeom>
              <a:avLst/>
              <a:gdLst/>
              <a:ahLst/>
              <a:cxnLst/>
              <a:rect r="r" b="b" t="t" l="l"/>
              <a:pathLst>
                <a:path h="2063369" w="7265162">
                  <a:moveTo>
                    <a:pt x="0" y="338836"/>
                  </a:moveTo>
                  <a:cubicBezTo>
                    <a:pt x="0" y="151638"/>
                    <a:pt x="151638" y="0"/>
                    <a:pt x="338836" y="0"/>
                  </a:cubicBezTo>
                  <a:lnTo>
                    <a:pt x="6926326" y="0"/>
                  </a:lnTo>
                  <a:cubicBezTo>
                    <a:pt x="7113397" y="0"/>
                    <a:pt x="7265162" y="151638"/>
                    <a:pt x="7265162" y="338836"/>
                  </a:cubicBezTo>
                  <a:lnTo>
                    <a:pt x="7265162" y="1724533"/>
                  </a:lnTo>
                  <a:cubicBezTo>
                    <a:pt x="7265162" y="1911604"/>
                    <a:pt x="7113524" y="2063369"/>
                    <a:pt x="6926326" y="2063369"/>
                  </a:cubicBezTo>
                  <a:lnTo>
                    <a:pt x="338836" y="2063369"/>
                  </a:lnTo>
                  <a:cubicBezTo>
                    <a:pt x="151638" y="2063369"/>
                    <a:pt x="0" y="1911731"/>
                    <a:pt x="0" y="1724533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2043772" y="4441327"/>
            <a:ext cx="504977" cy="504977"/>
            <a:chOff x="0" y="0"/>
            <a:chExt cx="673303" cy="6733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73354" cy="673354"/>
            </a:xfrm>
            <a:custGeom>
              <a:avLst/>
              <a:gdLst/>
              <a:ahLst/>
              <a:cxnLst/>
              <a:rect r="r" b="b" t="t" l="l"/>
              <a:pathLst>
                <a:path h="673354" w="673354">
                  <a:moveTo>
                    <a:pt x="0" y="336677"/>
                  </a:moveTo>
                  <a:cubicBezTo>
                    <a:pt x="0" y="150749"/>
                    <a:pt x="150749" y="0"/>
                    <a:pt x="336677" y="0"/>
                  </a:cubicBezTo>
                  <a:cubicBezTo>
                    <a:pt x="522605" y="0"/>
                    <a:pt x="673354" y="150749"/>
                    <a:pt x="673354" y="336677"/>
                  </a:cubicBezTo>
                  <a:cubicBezTo>
                    <a:pt x="673354" y="522605"/>
                    <a:pt x="522605" y="673354"/>
                    <a:pt x="336677" y="673354"/>
                  </a:cubicBezTo>
                  <a:cubicBezTo>
                    <a:pt x="150749" y="673354"/>
                    <a:pt x="0" y="522605"/>
                    <a:pt x="0" y="336677"/>
                  </a:cubicBez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Freeform 27" id="27" descr="preencoded.png"/>
          <p:cNvSpPr/>
          <p:nvPr/>
        </p:nvSpPr>
        <p:spPr>
          <a:xfrm flipH="false" flipV="false" rot="0">
            <a:off x="12182627" y="4580039"/>
            <a:ext cx="227257" cy="227257"/>
          </a:xfrm>
          <a:custGeom>
            <a:avLst/>
            <a:gdLst/>
            <a:ahLst/>
            <a:cxnLst/>
            <a:rect r="r" b="b" t="t" l="l"/>
            <a:pathLst>
              <a:path h="227257" w="227257">
                <a:moveTo>
                  <a:pt x="0" y="0"/>
                </a:moveTo>
                <a:lnTo>
                  <a:pt x="227257" y="0"/>
                </a:lnTo>
                <a:lnTo>
                  <a:pt x="227257" y="227257"/>
                </a:lnTo>
                <a:lnTo>
                  <a:pt x="0" y="22725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2917" t="0" r="-22917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2043772" y="5046164"/>
            <a:ext cx="5083521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Team Intelligence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043772" y="5380434"/>
            <a:ext cx="5083521" cy="243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3"/>
              </a:lnSpc>
            </a:pPr>
            <a:r>
              <a:rPr lang="en-US" sz="1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Win probability modeling, toss analysis, chase analysis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1861159" y="5896566"/>
            <a:ext cx="5448748" cy="1762125"/>
            <a:chOff x="0" y="0"/>
            <a:chExt cx="7264997" cy="2349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264908" cy="2349500"/>
            </a:xfrm>
            <a:custGeom>
              <a:avLst/>
              <a:gdLst/>
              <a:ahLst/>
              <a:cxnLst/>
              <a:rect r="r" b="b" t="t" l="l"/>
              <a:pathLst>
                <a:path h="2349500" w="7264908">
                  <a:moveTo>
                    <a:pt x="0" y="338455"/>
                  </a:moveTo>
                  <a:cubicBezTo>
                    <a:pt x="0" y="151511"/>
                    <a:pt x="151511" y="0"/>
                    <a:pt x="338455" y="0"/>
                  </a:cubicBezTo>
                  <a:lnTo>
                    <a:pt x="6926453" y="0"/>
                  </a:lnTo>
                  <a:cubicBezTo>
                    <a:pt x="7113397" y="0"/>
                    <a:pt x="7264908" y="151511"/>
                    <a:pt x="7264908" y="338455"/>
                  </a:cubicBezTo>
                  <a:lnTo>
                    <a:pt x="7264908" y="2011045"/>
                  </a:lnTo>
                  <a:cubicBezTo>
                    <a:pt x="7264908" y="2197989"/>
                    <a:pt x="7113397" y="2349500"/>
                    <a:pt x="6926453" y="2349500"/>
                  </a:cubicBezTo>
                  <a:lnTo>
                    <a:pt x="338455" y="2349500"/>
                  </a:lnTo>
                  <a:cubicBezTo>
                    <a:pt x="151511" y="2349500"/>
                    <a:pt x="0" y="2197989"/>
                    <a:pt x="0" y="2011045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43772" y="6079179"/>
            <a:ext cx="504977" cy="504977"/>
            <a:chOff x="0" y="0"/>
            <a:chExt cx="673303" cy="67330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73354" cy="673354"/>
            </a:xfrm>
            <a:custGeom>
              <a:avLst/>
              <a:gdLst/>
              <a:ahLst/>
              <a:cxnLst/>
              <a:rect r="r" b="b" t="t" l="l"/>
              <a:pathLst>
                <a:path h="673354" w="673354">
                  <a:moveTo>
                    <a:pt x="0" y="336677"/>
                  </a:moveTo>
                  <a:cubicBezTo>
                    <a:pt x="0" y="150749"/>
                    <a:pt x="150749" y="0"/>
                    <a:pt x="336677" y="0"/>
                  </a:cubicBezTo>
                  <a:cubicBezTo>
                    <a:pt x="522605" y="0"/>
                    <a:pt x="673354" y="150749"/>
                    <a:pt x="673354" y="336677"/>
                  </a:cubicBezTo>
                  <a:cubicBezTo>
                    <a:pt x="673354" y="522605"/>
                    <a:pt x="522605" y="673354"/>
                    <a:pt x="336677" y="673354"/>
                  </a:cubicBezTo>
                  <a:cubicBezTo>
                    <a:pt x="150749" y="673354"/>
                    <a:pt x="0" y="522605"/>
                    <a:pt x="0" y="336677"/>
                  </a:cubicBez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Freeform 34" id="34" descr="preencoded.png"/>
          <p:cNvSpPr/>
          <p:nvPr/>
        </p:nvSpPr>
        <p:spPr>
          <a:xfrm flipH="false" flipV="false" rot="0">
            <a:off x="12182627" y="6217891"/>
            <a:ext cx="227257" cy="227257"/>
          </a:xfrm>
          <a:custGeom>
            <a:avLst/>
            <a:gdLst/>
            <a:ahLst/>
            <a:cxnLst/>
            <a:rect r="r" b="b" t="t" l="l"/>
            <a:pathLst>
              <a:path h="227257" w="227257">
                <a:moveTo>
                  <a:pt x="0" y="0"/>
                </a:moveTo>
                <a:lnTo>
                  <a:pt x="227257" y="0"/>
                </a:lnTo>
                <a:lnTo>
                  <a:pt x="227257" y="227257"/>
                </a:lnTo>
                <a:lnTo>
                  <a:pt x="0" y="22725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083" t="0" r="-2083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2043772" y="6684016"/>
            <a:ext cx="5083521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Venue Intelligence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043772" y="7018287"/>
            <a:ext cx="5083521" cy="457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3"/>
              </a:lnSpc>
            </a:pPr>
            <a:r>
              <a:rPr lang="en-US" sz="1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Pitch behaviour patterns, average scores &amp; variance, toss influence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1861159" y="7749035"/>
            <a:ext cx="5448748" cy="1547517"/>
            <a:chOff x="0" y="0"/>
            <a:chExt cx="7264997" cy="20633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265162" cy="2063369"/>
            </a:xfrm>
            <a:custGeom>
              <a:avLst/>
              <a:gdLst/>
              <a:ahLst/>
              <a:cxnLst/>
              <a:rect r="r" b="b" t="t" l="l"/>
              <a:pathLst>
                <a:path h="2063369" w="7265162">
                  <a:moveTo>
                    <a:pt x="0" y="338836"/>
                  </a:moveTo>
                  <a:cubicBezTo>
                    <a:pt x="0" y="151638"/>
                    <a:pt x="151638" y="0"/>
                    <a:pt x="338836" y="0"/>
                  </a:cubicBezTo>
                  <a:lnTo>
                    <a:pt x="6926326" y="0"/>
                  </a:lnTo>
                  <a:cubicBezTo>
                    <a:pt x="7113397" y="0"/>
                    <a:pt x="7265162" y="151638"/>
                    <a:pt x="7265162" y="338836"/>
                  </a:cubicBezTo>
                  <a:lnTo>
                    <a:pt x="7265162" y="1724533"/>
                  </a:lnTo>
                  <a:cubicBezTo>
                    <a:pt x="7265162" y="1911604"/>
                    <a:pt x="7113524" y="2063369"/>
                    <a:pt x="6926326" y="2063369"/>
                  </a:cubicBezTo>
                  <a:lnTo>
                    <a:pt x="338836" y="2063369"/>
                  </a:lnTo>
                  <a:cubicBezTo>
                    <a:pt x="151638" y="2063369"/>
                    <a:pt x="0" y="1911731"/>
                    <a:pt x="0" y="1724533"/>
                  </a:cubicBezTo>
                  <a:close/>
                </a:path>
              </a:pathLst>
            </a:custGeom>
            <a:solidFill>
              <a:srgbClr val="E6F7FF"/>
            </a:solidFill>
            <a:ln w="9526" cap="sq">
              <a:solidFill>
                <a:srgbClr val="B3D5E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043772" y="7931648"/>
            <a:ext cx="504977" cy="504977"/>
            <a:chOff x="0" y="0"/>
            <a:chExt cx="673303" cy="67330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73354" cy="673354"/>
            </a:xfrm>
            <a:custGeom>
              <a:avLst/>
              <a:gdLst/>
              <a:ahLst/>
              <a:cxnLst/>
              <a:rect r="r" b="b" t="t" l="l"/>
              <a:pathLst>
                <a:path h="673354" w="673354">
                  <a:moveTo>
                    <a:pt x="0" y="336677"/>
                  </a:moveTo>
                  <a:cubicBezTo>
                    <a:pt x="0" y="150749"/>
                    <a:pt x="150749" y="0"/>
                    <a:pt x="336677" y="0"/>
                  </a:cubicBezTo>
                  <a:cubicBezTo>
                    <a:pt x="522605" y="0"/>
                    <a:pt x="673354" y="150749"/>
                    <a:pt x="673354" y="336677"/>
                  </a:cubicBezTo>
                  <a:cubicBezTo>
                    <a:pt x="673354" y="522605"/>
                    <a:pt x="522605" y="673354"/>
                    <a:pt x="336677" y="673354"/>
                  </a:cubicBezTo>
                  <a:cubicBezTo>
                    <a:pt x="150749" y="673354"/>
                    <a:pt x="0" y="522605"/>
                    <a:pt x="0" y="336677"/>
                  </a:cubicBez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Freeform 41" id="41" descr="preencoded.png"/>
          <p:cNvSpPr/>
          <p:nvPr/>
        </p:nvSpPr>
        <p:spPr>
          <a:xfrm flipH="false" flipV="false" rot="0">
            <a:off x="12182627" y="8070352"/>
            <a:ext cx="227257" cy="227257"/>
          </a:xfrm>
          <a:custGeom>
            <a:avLst/>
            <a:gdLst/>
            <a:ahLst/>
            <a:cxnLst/>
            <a:rect r="r" b="b" t="t" l="l"/>
            <a:pathLst>
              <a:path h="227257" w="227257">
                <a:moveTo>
                  <a:pt x="0" y="0"/>
                </a:moveTo>
                <a:lnTo>
                  <a:pt x="227257" y="0"/>
                </a:lnTo>
                <a:lnTo>
                  <a:pt x="227257" y="227256"/>
                </a:lnTo>
                <a:lnTo>
                  <a:pt x="0" y="2272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2498" t="0" r="-12502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2043772" y="8536486"/>
            <a:ext cx="5083521" cy="262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96"/>
              </a:lnSpc>
            </a:pPr>
            <a:r>
              <a:rPr lang="en-US" sz="1599" b="true">
                <a:solidFill>
                  <a:srgbClr val="000000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Predictive Analytics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043772" y="8870747"/>
            <a:ext cx="5083521" cy="243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3"/>
              </a:lnSpc>
            </a:pPr>
            <a:r>
              <a:rPr lang="en-US" sz="1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Match prediction, player form forecasting, player clustering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770182"/>
            <a:ext cx="16303523" cy="452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7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Overall Project Diagram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92238" y="1364304"/>
            <a:ext cx="5434460" cy="567033"/>
            <a:chOff x="0" y="0"/>
            <a:chExt cx="7245947" cy="756044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7245985" cy="756031"/>
            </a:xfrm>
            <a:custGeom>
              <a:avLst/>
              <a:gdLst/>
              <a:ahLst/>
              <a:cxnLst/>
              <a:rect r="r" b="b" t="t" l="l"/>
              <a:pathLst>
                <a:path h="756031" w="7245985">
                  <a:moveTo>
                    <a:pt x="0" y="0"/>
                  </a:moveTo>
                  <a:lnTo>
                    <a:pt x="7245985" y="0"/>
                  </a:lnTo>
                  <a:lnTo>
                    <a:pt x="7245985" y="756031"/>
                  </a:lnTo>
                  <a:lnTo>
                    <a:pt x="0" y="7560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54" r="0" b="-354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33923" y="1992659"/>
            <a:ext cx="5151091" cy="23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2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The Dataset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33923" y="2247005"/>
            <a:ext cx="5151091" cy="359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IPL 2008–2026 · 250+ matches · 150K+ deliveries · Player metrics · Venue conditions · Match outcomes · Cleaned &amp; normalized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426698" y="1364304"/>
            <a:ext cx="5434460" cy="567033"/>
            <a:chOff x="0" y="0"/>
            <a:chExt cx="7245947" cy="756044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7245985" cy="756031"/>
            </a:xfrm>
            <a:custGeom>
              <a:avLst/>
              <a:gdLst/>
              <a:ahLst/>
              <a:cxnLst/>
              <a:rect r="r" b="b" t="t" l="l"/>
              <a:pathLst>
                <a:path h="756031" w="7245985">
                  <a:moveTo>
                    <a:pt x="0" y="0"/>
                  </a:moveTo>
                  <a:lnTo>
                    <a:pt x="7245985" y="0"/>
                  </a:lnTo>
                  <a:lnTo>
                    <a:pt x="7245985" y="756031"/>
                  </a:lnTo>
                  <a:lnTo>
                    <a:pt x="0" y="7560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54" r="0" b="-354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6568383" y="1992659"/>
            <a:ext cx="5151091" cy="23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2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Technology Stack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68383" y="2247005"/>
            <a:ext cx="5151091" cy="529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Core: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R — dplyr, tidyr, ggplot2, plotly, caret, randomForest, forecast</a:t>
            </a:r>
          </a:p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Dashboard: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Shiny reactive web app</a:t>
            </a:r>
          </a:p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AI Interface: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NVIDIA NIM API — NL to R function mapping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861159" y="1364304"/>
            <a:ext cx="5434460" cy="567033"/>
            <a:chOff x="0" y="0"/>
            <a:chExt cx="7245947" cy="756044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7245985" cy="756031"/>
            </a:xfrm>
            <a:custGeom>
              <a:avLst/>
              <a:gdLst/>
              <a:ahLst/>
              <a:cxnLst/>
              <a:rect r="r" b="b" t="t" l="l"/>
              <a:pathLst>
                <a:path h="756031" w="7245985">
                  <a:moveTo>
                    <a:pt x="0" y="0"/>
                  </a:moveTo>
                  <a:lnTo>
                    <a:pt x="7245985" y="0"/>
                  </a:lnTo>
                  <a:lnTo>
                    <a:pt x="7245985" y="756031"/>
                  </a:lnTo>
                  <a:lnTo>
                    <a:pt x="0" y="7560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354" r="0" b="-354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2002843" y="1992659"/>
            <a:ext cx="5151091" cy="23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2"/>
              </a:lnSpc>
            </a:pPr>
            <a:r>
              <a:rPr lang="en-US" sz="12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Key Use Cases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002843" y="2247005"/>
            <a:ext cx="5151091" cy="529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Death Overs Specialist: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Phase-wise ranked list with strike rate &amp; impact index</a:t>
            </a:r>
          </a:p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Venue Head-to-Head: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Radar chart + statistical significance</a:t>
            </a:r>
          </a:p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5B6E8C"/>
                </a:solidFill>
                <a:latin typeface="Arimo Bold"/>
                <a:ea typeface="Arimo Bold"/>
                <a:cs typeface="Arimo Bold"/>
                <a:sym typeface="Arimo Bold"/>
              </a:rPr>
              <a:t>Match Outcome Prediction:</a:t>
            </a:r>
            <a:r>
              <a:rPr lang="en-US" sz="11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 ML win probability with confidence intervals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759006" y="3109760"/>
            <a:ext cx="14769846" cy="8308038"/>
            <a:chOff x="0" y="0"/>
            <a:chExt cx="19507200" cy="1097280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950720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19507200">
                  <a:moveTo>
                    <a:pt x="0" y="0"/>
                  </a:moveTo>
                  <a:lnTo>
                    <a:pt x="19507200" y="0"/>
                  </a:lnTo>
                  <a:lnTo>
                    <a:pt x="19507200" y="10972800"/>
                  </a:lnTo>
                  <a:lnTo>
                    <a:pt x="0" y="1097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819598"/>
            <a:ext cx="16303523" cy="628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2"/>
              </a:lnSpc>
            </a:pPr>
            <a:r>
              <a:rPr lang="en-US" sz="3800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Deliverables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38" y="1772993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Core Deliverables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92238" y="2237784"/>
            <a:ext cx="389782" cy="243630"/>
            <a:chOff x="0" y="0"/>
            <a:chExt cx="519709" cy="3248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19707" cy="324843"/>
            </a:xfrm>
            <a:custGeom>
              <a:avLst/>
              <a:gdLst/>
              <a:ahLst/>
              <a:cxnLst/>
              <a:rect r="r" b="b" t="t" l="l"/>
              <a:pathLst>
                <a:path h="324843" w="519707">
                  <a:moveTo>
                    <a:pt x="0" y="0"/>
                  </a:moveTo>
                  <a:lnTo>
                    <a:pt x="519707" y="0"/>
                  </a:lnTo>
                  <a:lnTo>
                    <a:pt x="519707" y="324843"/>
                  </a:lnTo>
                  <a:lnTo>
                    <a:pt x="0" y="324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95" t="0" r="-30195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519709" cy="334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8C"/>
                  </a:solidFill>
                  <a:latin typeface="Alexandria Light"/>
                  <a:ea typeface="Alexandria Light"/>
                  <a:cs typeface="Alexandria Light"/>
                  <a:sym typeface="Alexandria Light"/>
                </a:rPr>
                <a:t>01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92238" y="2540346"/>
            <a:ext cx="7914084" cy="28575"/>
            <a:chOff x="0" y="0"/>
            <a:chExt cx="10552112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552049" cy="38100"/>
            </a:xfrm>
            <a:custGeom>
              <a:avLst/>
              <a:gdLst/>
              <a:ahLst/>
              <a:cxnLst/>
              <a:rect r="r" b="b" t="t" l="l"/>
              <a:pathLst>
                <a:path h="38100" w="10552049">
                  <a:moveTo>
                    <a:pt x="0" y="0"/>
                  </a:moveTo>
                  <a:lnTo>
                    <a:pt x="10552049" y="0"/>
                  </a:lnTo>
                  <a:lnTo>
                    <a:pt x="10552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992238" y="2685307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Cleaned IPL Dataset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2238" y="3095177"/>
            <a:ext cx="791408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2008–2026, normalized and validated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92238" y="3676498"/>
            <a:ext cx="389782" cy="243630"/>
            <a:chOff x="0" y="0"/>
            <a:chExt cx="519709" cy="32484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19707" cy="324843"/>
            </a:xfrm>
            <a:custGeom>
              <a:avLst/>
              <a:gdLst/>
              <a:ahLst/>
              <a:cxnLst/>
              <a:rect r="r" b="b" t="t" l="l"/>
              <a:pathLst>
                <a:path h="324843" w="519707">
                  <a:moveTo>
                    <a:pt x="0" y="0"/>
                  </a:moveTo>
                  <a:lnTo>
                    <a:pt x="519707" y="0"/>
                  </a:lnTo>
                  <a:lnTo>
                    <a:pt x="519707" y="324843"/>
                  </a:lnTo>
                  <a:lnTo>
                    <a:pt x="0" y="324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95" t="0" r="-30195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519709" cy="334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8C"/>
                  </a:solidFill>
                  <a:latin typeface="Alexandria Light"/>
                  <a:ea typeface="Alexandria Light"/>
                  <a:cs typeface="Alexandria Light"/>
                  <a:sym typeface="Alexandria Light"/>
                </a:rPr>
                <a:t>02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92238" y="3959723"/>
            <a:ext cx="7914084" cy="28575"/>
            <a:chOff x="0" y="0"/>
            <a:chExt cx="10552112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52049" cy="38100"/>
            </a:xfrm>
            <a:custGeom>
              <a:avLst/>
              <a:gdLst/>
              <a:ahLst/>
              <a:cxnLst/>
              <a:rect r="r" b="b" t="t" l="l"/>
              <a:pathLst>
                <a:path h="38100" w="10552049">
                  <a:moveTo>
                    <a:pt x="0" y="0"/>
                  </a:moveTo>
                  <a:lnTo>
                    <a:pt x="10552049" y="0"/>
                  </a:lnTo>
                  <a:lnTo>
                    <a:pt x="10552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992238" y="4124030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Analytics Engine &amp; ML Models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92238" y="4533900"/>
            <a:ext cx="791408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Reproducible R scripts with validation metrics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92238" y="5115220"/>
            <a:ext cx="389782" cy="243630"/>
            <a:chOff x="0" y="0"/>
            <a:chExt cx="519709" cy="32484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19707" cy="324843"/>
            </a:xfrm>
            <a:custGeom>
              <a:avLst/>
              <a:gdLst/>
              <a:ahLst/>
              <a:cxnLst/>
              <a:rect r="r" b="b" t="t" l="l"/>
              <a:pathLst>
                <a:path h="324843" w="519707">
                  <a:moveTo>
                    <a:pt x="0" y="0"/>
                  </a:moveTo>
                  <a:lnTo>
                    <a:pt x="519707" y="0"/>
                  </a:lnTo>
                  <a:lnTo>
                    <a:pt x="519707" y="324843"/>
                  </a:lnTo>
                  <a:lnTo>
                    <a:pt x="0" y="324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95" t="0" r="-30195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519709" cy="334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8C"/>
                  </a:solidFill>
                  <a:latin typeface="Alexandria Light"/>
                  <a:ea typeface="Alexandria Light"/>
                  <a:cs typeface="Alexandria Light"/>
                  <a:sym typeface="Alexandria Light"/>
                </a:rPr>
                <a:t>03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92238" y="5378948"/>
            <a:ext cx="7914084" cy="28575"/>
            <a:chOff x="0" y="0"/>
            <a:chExt cx="10552112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552049" cy="38100"/>
            </a:xfrm>
            <a:custGeom>
              <a:avLst/>
              <a:gdLst/>
              <a:ahLst/>
              <a:cxnLst/>
              <a:rect r="r" b="b" t="t" l="l"/>
              <a:pathLst>
                <a:path h="38100" w="10552049">
                  <a:moveTo>
                    <a:pt x="0" y="0"/>
                  </a:moveTo>
                  <a:lnTo>
                    <a:pt x="10552049" y="0"/>
                  </a:lnTo>
                  <a:lnTo>
                    <a:pt x="10552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92238" y="5562752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Interactive Shiny Dashboard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92238" y="5972623"/>
            <a:ext cx="791408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Real-time exploration, filtering, and visual discovery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92238" y="6553943"/>
            <a:ext cx="389782" cy="243630"/>
            <a:chOff x="0" y="0"/>
            <a:chExt cx="519709" cy="32484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19707" cy="324843"/>
            </a:xfrm>
            <a:custGeom>
              <a:avLst/>
              <a:gdLst/>
              <a:ahLst/>
              <a:cxnLst/>
              <a:rect r="r" b="b" t="t" l="l"/>
              <a:pathLst>
                <a:path h="324843" w="519707">
                  <a:moveTo>
                    <a:pt x="0" y="0"/>
                  </a:moveTo>
                  <a:lnTo>
                    <a:pt x="519707" y="0"/>
                  </a:lnTo>
                  <a:lnTo>
                    <a:pt x="519707" y="324843"/>
                  </a:lnTo>
                  <a:lnTo>
                    <a:pt x="0" y="324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95" t="0" r="-30195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519709" cy="334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8C"/>
                  </a:solidFill>
                  <a:latin typeface="Alexandria Light"/>
                  <a:ea typeface="Alexandria Light"/>
                  <a:cs typeface="Alexandria Light"/>
                  <a:sym typeface="Alexandria Light"/>
                </a:rPr>
                <a:t>04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92238" y="6798316"/>
            <a:ext cx="7914084" cy="28575"/>
            <a:chOff x="0" y="0"/>
            <a:chExt cx="10552112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552049" cy="38100"/>
            </a:xfrm>
            <a:custGeom>
              <a:avLst/>
              <a:gdLst/>
              <a:ahLst/>
              <a:cxnLst/>
              <a:rect r="r" b="b" t="t" l="l"/>
              <a:pathLst>
                <a:path h="38100" w="10552049">
                  <a:moveTo>
                    <a:pt x="0" y="0"/>
                  </a:moveTo>
                  <a:lnTo>
                    <a:pt x="10552049" y="0"/>
                  </a:lnTo>
                  <a:lnTo>
                    <a:pt x="10552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992238" y="7001475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Natural Language Query Assistant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92238" y="7411345"/>
            <a:ext cx="791408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Conversational interface powered by NVIDIA NIM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92238" y="7992666"/>
            <a:ext cx="389782" cy="243630"/>
            <a:chOff x="0" y="0"/>
            <a:chExt cx="519709" cy="32484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19707" cy="324843"/>
            </a:xfrm>
            <a:custGeom>
              <a:avLst/>
              <a:gdLst/>
              <a:ahLst/>
              <a:cxnLst/>
              <a:rect r="r" b="b" t="t" l="l"/>
              <a:pathLst>
                <a:path h="324843" w="519707">
                  <a:moveTo>
                    <a:pt x="0" y="0"/>
                  </a:moveTo>
                  <a:lnTo>
                    <a:pt x="519707" y="0"/>
                  </a:lnTo>
                  <a:lnTo>
                    <a:pt x="519707" y="324843"/>
                  </a:lnTo>
                  <a:lnTo>
                    <a:pt x="0" y="3248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95" t="0" r="-30195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519709" cy="334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5B6E8C"/>
                  </a:solidFill>
                  <a:latin typeface="Alexandria Light"/>
                  <a:ea typeface="Alexandria Light"/>
                  <a:cs typeface="Alexandria Light"/>
                  <a:sym typeface="Alexandria Light"/>
                </a:rPr>
                <a:t>05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92238" y="8217541"/>
            <a:ext cx="7914084" cy="28575"/>
            <a:chOff x="0" y="0"/>
            <a:chExt cx="10552112" cy="381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552049" cy="38100"/>
            </a:xfrm>
            <a:custGeom>
              <a:avLst/>
              <a:gdLst/>
              <a:ahLst/>
              <a:cxnLst/>
              <a:rect r="r" b="b" t="t" l="l"/>
              <a:pathLst>
                <a:path h="38100" w="10552049">
                  <a:moveTo>
                    <a:pt x="0" y="0"/>
                  </a:moveTo>
                  <a:lnTo>
                    <a:pt x="10552049" y="0"/>
                  </a:lnTo>
                  <a:lnTo>
                    <a:pt x="10552049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4CCFA"/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992238" y="8440188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Technical Report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92238" y="8850068"/>
            <a:ext cx="791408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Full documentation with model validation and methodology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391202" y="1772993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Expected Outcomes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376915" y="2320681"/>
            <a:ext cx="3918642" cy="1264739"/>
            <a:chOff x="0" y="0"/>
            <a:chExt cx="5224856" cy="1686319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224907" cy="1686433"/>
            </a:xfrm>
            <a:custGeom>
              <a:avLst/>
              <a:gdLst/>
              <a:ahLst/>
              <a:cxnLst/>
              <a:rect r="r" b="b" t="t" l="l"/>
              <a:pathLst>
                <a:path h="1686433" w="5224907">
                  <a:moveTo>
                    <a:pt x="0" y="398907"/>
                  </a:moveTo>
                  <a:cubicBezTo>
                    <a:pt x="0" y="178562"/>
                    <a:pt x="178562" y="0"/>
                    <a:pt x="398907" y="0"/>
                  </a:cubicBezTo>
                  <a:lnTo>
                    <a:pt x="4826000" y="0"/>
                  </a:lnTo>
                  <a:cubicBezTo>
                    <a:pt x="5046345" y="0"/>
                    <a:pt x="5224907" y="178562"/>
                    <a:pt x="5224907" y="398907"/>
                  </a:cubicBezTo>
                  <a:lnTo>
                    <a:pt x="5224907" y="1287526"/>
                  </a:lnTo>
                  <a:cubicBezTo>
                    <a:pt x="5224907" y="1507871"/>
                    <a:pt x="5046345" y="1686433"/>
                    <a:pt x="4826000" y="1686433"/>
                  </a:cubicBezTo>
                  <a:lnTo>
                    <a:pt x="398907" y="1686433"/>
                  </a:lnTo>
                  <a:cubicBezTo>
                    <a:pt x="178562" y="1686306"/>
                    <a:pt x="0" y="1507744"/>
                    <a:pt x="0" y="1287399"/>
                  </a:cubicBezTo>
                  <a:close/>
                </a:path>
              </a:pathLst>
            </a:custGeom>
            <a:solidFill>
              <a:srgbClr val="FFFFFF"/>
            </a:solidFill>
            <a:ln w="2857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9614592" y="2423074"/>
            <a:ext cx="3443288" cy="827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Fully functional analytics platform with predictive models and interactive dashboards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3400932" y="2320681"/>
            <a:ext cx="3918642" cy="1264739"/>
            <a:chOff x="0" y="0"/>
            <a:chExt cx="5224856" cy="168631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224907" cy="1686433"/>
            </a:xfrm>
            <a:custGeom>
              <a:avLst/>
              <a:gdLst/>
              <a:ahLst/>
              <a:cxnLst/>
              <a:rect r="r" b="b" t="t" l="l"/>
              <a:pathLst>
                <a:path h="1686433" w="5224907">
                  <a:moveTo>
                    <a:pt x="0" y="398907"/>
                  </a:moveTo>
                  <a:cubicBezTo>
                    <a:pt x="0" y="178562"/>
                    <a:pt x="178562" y="0"/>
                    <a:pt x="398907" y="0"/>
                  </a:cubicBezTo>
                  <a:lnTo>
                    <a:pt x="4826000" y="0"/>
                  </a:lnTo>
                  <a:cubicBezTo>
                    <a:pt x="5046345" y="0"/>
                    <a:pt x="5224907" y="178562"/>
                    <a:pt x="5224907" y="398907"/>
                  </a:cubicBezTo>
                  <a:lnTo>
                    <a:pt x="5224907" y="1287526"/>
                  </a:lnTo>
                  <a:cubicBezTo>
                    <a:pt x="5224907" y="1507871"/>
                    <a:pt x="5046345" y="1686433"/>
                    <a:pt x="4826000" y="1686433"/>
                  </a:cubicBezTo>
                  <a:lnTo>
                    <a:pt x="398907" y="1686433"/>
                  </a:lnTo>
                  <a:cubicBezTo>
                    <a:pt x="178562" y="1686306"/>
                    <a:pt x="0" y="1507744"/>
                    <a:pt x="0" y="1287399"/>
                  </a:cubicBezTo>
                  <a:close/>
                </a:path>
              </a:pathLst>
            </a:custGeom>
            <a:solidFill>
              <a:srgbClr val="FFFFFF"/>
            </a:solidFill>
            <a:ln w="28576" cap="sq">
              <a:solidFill>
                <a:srgbClr val="B3D5E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3638609" y="2423074"/>
            <a:ext cx="3443288" cy="827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Data-driven decision support for teams, coaches, and analysts — backed by statistical rigor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614592" y="3909270"/>
            <a:ext cx="7914084" cy="314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899" b="true">
                <a:solidFill>
                  <a:srgbClr val="5B6E8C"/>
                </a:solidFill>
                <a:latin typeface="Alexandria Medium"/>
                <a:ea typeface="Alexandria Medium"/>
                <a:cs typeface="Alexandria Medium"/>
                <a:sym typeface="Alexandria Medium"/>
              </a:rPr>
              <a:t>Future Roadmap</a:t>
            </a:r>
          </a:p>
        </p:txBody>
      </p:sp>
      <p:sp>
        <p:nvSpPr>
          <p:cNvPr name="Freeform 51" id="51" descr="preencoded.png"/>
          <p:cNvSpPr/>
          <p:nvPr/>
        </p:nvSpPr>
        <p:spPr>
          <a:xfrm flipH="false" flipV="false" rot="0">
            <a:off x="9614592" y="4527509"/>
            <a:ext cx="292294" cy="292294"/>
          </a:xfrm>
          <a:custGeom>
            <a:avLst/>
            <a:gdLst/>
            <a:ahLst/>
            <a:cxnLst/>
            <a:rect r="r" b="b" t="t" l="l"/>
            <a:pathLst>
              <a:path h="292294" w="292294">
                <a:moveTo>
                  <a:pt x="0" y="0"/>
                </a:moveTo>
                <a:lnTo>
                  <a:pt x="292294" y="0"/>
                </a:lnTo>
                <a:lnTo>
                  <a:pt x="292294" y="292293"/>
                </a:lnTo>
                <a:lnTo>
                  <a:pt x="0" y="292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8065" t="0" r="-8065" b="0"/>
            </a:stretch>
          </a:blipFill>
        </p:spPr>
      </p:sp>
      <p:sp>
        <p:nvSpPr>
          <p:cNvPr name="TextBox 52" id="52"/>
          <p:cNvSpPr txBox="true"/>
          <p:nvPr/>
        </p:nvSpPr>
        <p:spPr>
          <a:xfrm rot="0">
            <a:off x="10322714" y="4518574"/>
            <a:ext cx="728082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Real-time match analytics and mobile application</a:t>
            </a:r>
          </a:p>
        </p:txBody>
      </p:sp>
      <p:sp>
        <p:nvSpPr>
          <p:cNvPr name="Freeform 53" id="53" descr="preencoded.png"/>
          <p:cNvSpPr/>
          <p:nvPr/>
        </p:nvSpPr>
        <p:spPr>
          <a:xfrm flipH="false" flipV="false" rot="0">
            <a:off x="9614592" y="5279984"/>
            <a:ext cx="292294" cy="292294"/>
          </a:xfrm>
          <a:custGeom>
            <a:avLst/>
            <a:gdLst/>
            <a:ahLst/>
            <a:cxnLst/>
            <a:rect r="r" b="b" t="t" l="l"/>
            <a:pathLst>
              <a:path h="292294" w="292294">
                <a:moveTo>
                  <a:pt x="0" y="0"/>
                </a:moveTo>
                <a:lnTo>
                  <a:pt x="292294" y="0"/>
                </a:lnTo>
                <a:lnTo>
                  <a:pt x="292294" y="292293"/>
                </a:lnTo>
                <a:lnTo>
                  <a:pt x="0" y="292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8065" t="0" r="-8065" b="0"/>
            </a:stretch>
          </a:blipFill>
        </p:spPr>
      </p:sp>
      <p:sp>
        <p:nvSpPr>
          <p:cNvPr name="TextBox 54" id="54"/>
          <p:cNvSpPr txBox="true"/>
          <p:nvPr/>
        </p:nvSpPr>
        <p:spPr>
          <a:xfrm rot="0">
            <a:off x="10322714" y="5237859"/>
            <a:ext cx="728082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Multi-league expansion — BBL, PSL, and international formats</a:t>
            </a:r>
          </a:p>
        </p:txBody>
      </p:sp>
      <p:sp>
        <p:nvSpPr>
          <p:cNvPr name="Freeform 55" id="55" descr="preencoded.png"/>
          <p:cNvSpPr/>
          <p:nvPr/>
        </p:nvSpPr>
        <p:spPr>
          <a:xfrm flipH="false" flipV="false" rot="0">
            <a:off x="9614592" y="6142287"/>
            <a:ext cx="292294" cy="292294"/>
          </a:xfrm>
          <a:custGeom>
            <a:avLst/>
            <a:gdLst/>
            <a:ahLst/>
            <a:cxnLst/>
            <a:rect r="r" b="b" t="t" l="l"/>
            <a:pathLst>
              <a:path h="292294" w="292294">
                <a:moveTo>
                  <a:pt x="0" y="0"/>
                </a:moveTo>
                <a:lnTo>
                  <a:pt x="292294" y="0"/>
                </a:lnTo>
                <a:lnTo>
                  <a:pt x="292294" y="292293"/>
                </a:lnTo>
                <a:lnTo>
                  <a:pt x="0" y="292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8065" t="0" r="-8065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0322714" y="6091985"/>
            <a:ext cx="7280824" cy="30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5B6E8C"/>
                </a:solidFill>
                <a:latin typeface="Arimo"/>
                <a:ea typeface="Arimo"/>
                <a:cs typeface="Arimo"/>
                <a:sym typeface="Arimo"/>
              </a:rPr>
              <a:t>Fantasy XI recommendation engine powered by player clustering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DAHSdGG1vkk</dc:identifier>
  <dcterms:modified xsi:type="dcterms:W3CDTF">2011-08-01T06:04:30Z</dcterms:modified>
  <cp:revision>1</cp:revision>
  <dc:title>Criclens</dc:title>
</cp:coreProperties>
</file>