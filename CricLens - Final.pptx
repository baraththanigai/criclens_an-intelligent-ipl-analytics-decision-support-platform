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embeddedFontLst>
    <p:embeddedFont>
      <p:font typeface="Alexandria Medium" panose="020B0604020202020204" charset="-78"/>
      <p:regular r:id="rId9"/>
    </p:embeddedFont>
    <p:embeddedFont>
      <p:font typeface="Manrope" panose="020B0604020202020204" charset="0"/>
      <p:regular r:id="rId10"/>
    </p:embeddedFont>
    <p:embeddedFont>
      <p:font typeface="Manrope Bold" panose="020B0604020202020204" charset="0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9865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937370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CricLens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592958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An Intelligent IPL Analytics &amp; Decision Support Platform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From Every Ball to Every Insight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8115"/>
            <a:ext cx="815176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Title &amp; Team Details</a:t>
            </a:r>
            <a:endParaRPr lang="en-US" sz="1850" dirty="0"/>
          </a:p>
        </p:txBody>
      </p:sp>
      <p:sp>
        <p:nvSpPr>
          <p:cNvPr id="3" name="Shape 1"/>
          <p:cNvSpPr/>
          <p:nvPr/>
        </p:nvSpPr>
        <p:spPr>
          <a:xfrm>
            <a:off x="427583" y="791766"/>
            <a:ext cx="2839120" cy="3953545"/>
          </a:xfrm>
          <a:prstGeom prst="roundRect">
            <a:avLst>
              <a:gd name="adj" fmla="val 8052"/>
            </a:avLst>
          </a:prstGeom>
          <a:solidFill>
            <a:srgbClr val="AAE4F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22833" y="1906563"/>
            <a:ext cx="2648620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Team Members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22833" y="2119387"/>
            <a:ext cx="2648620" cy="567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Amitesh Ram</a:t>
            </a:r>
            <a:endParaRPr lang="en-US" sz="750" dirty="0"/>
          </a:p>
          <a:p>
            <a:pPr marL="0" indent="0" algn="l">
              <a:lnSpc>
                <a:spcPct val="11100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24BDS1030</a:t>
            </a:r>
            <a:endParaRPr lang="en-US" sz="750" dirty="0"/>
          </a:p>
          <a:p>
            <a:pPr marL="0" indent="0" algn="l">
              <a:lnSpc>
                <a:spcPct val="111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Barath T</a:t>
            </a:r>
            <a:endParaRPr lang="en-US" sz="750" dirty="0"/>
          </a:p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24BDS1178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22833" y="2782342"/>
            <a:ext cx="2648620" cy="14288"/>
          </a:xfrm>
          <a:prstGeom prst="roundRect">
            <a:avLst>
              <a:gd name="adj" fmla="val 49998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22833" y="2892400"/>
            <a:ext cx="2648620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Project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22833" y="3105224"/>
            <a:ext cx="3105820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CricLens — IPL Analytics &amp; Decision Support Platform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22833" y="3296617"/>
            <a:ext cx="2648620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2833" y="3509442"/>
            <a:ext cx="3105820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435251" y="855762"/>
            <a:ext cx="521731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GitHub Profiles</a:t>
            </a:r>
            <a:endParaRPr lang="en-US" sz="9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5251" y="1076548"/>
            <a:ext cx="5217319" cy="1767334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5251" y="2915841"/>
            <a:ext cx="5217319" cy="17575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0794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Motivation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96119" y="1076399"/>
            <a:ext cx="3921844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The Problem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400175"/>
            <a:ext cx="1904702" cy="1551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3762" y="1540669"/>
            <a:ext cx="1566565" cy="394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Massive, Underutilized Data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93762" y="2047652"/>
            <a:ext cx="1566565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19 years, 250+ matches, 150K+ balls annually — yet insights remain buried and inaccessible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13261" y="1400175"/>
            <a:ext cx="1904702" cy="15517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10904" y="1540669"/>
            <a:ext cx="1566565" cy="394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Fragmented Intelligence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2710904" y="2047652"/>
            <a:ext cx="1566565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Stats scattered across platforms with no way to correlate player, team, and venue data meaningfully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064371"/>
            <a:ext cx="1904702" cy="15517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3762" y="3204865"/>
            <a:ext cx="1566565" cy="394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Intuition Over Evidence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93762" y="3711848"/>
            <a:ext cx="1566565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Coaches and analysts rely on gut feel rather than structured, data-driven decision support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13261" y="3064371"/>
            <a:ext cx="1904702" cy="15517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710904" y="3204865"/>
            <a:ext cx="1566565" cy="394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No Unified Source of Truth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2710904" y="3711848"/>
            <a:ext cx="1566565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Coaches, analysts, and fans each need one authoritative platform — and none currently exists</a:t>
            </a:r>
            <a:endParaRPr lang="en-US" sz="950" dirty="0"/>
          </a:p>
        </p:txBody>
      </p:sp>
      <p:sp>
        <p:nvSpPr>
          <p:cNvPr id="16" name="Text 10"/>
          <p:cNvSpPr/>
          <p:nvPr/>
        </p:nvSpPr>
        <p:spPr>
          <a:xfrm>
            <a:off x="4730800" y="1076399"/>
            <a:ext cx="3921844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Why IPL?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730800" y="1400175"/>
            <a:ext cx="1904702" cy="1532706"/>
          </a:xfrm>
          <a:prstGeom prst="roundRect">
            <a:avLst>
              <a:gd name="adj" fmla="val 12357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4861768" y="1531144"/>
            <a:ext cx="1642765" cy="394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Rich, Structured Data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861768" y="2038127"/>
            <a:ext cx="1642765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Ball-by-ball records, player stats, and venue conditions — publicly available and well-documented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6747942" y="1400175"/>
            <a:ext cx="1904702" cy="1532706"/>
          </a:xfrm>
          <a:prstGeom prst="roundRect">
            <a:avLst>
              <a:gd name="adj" fmla="val 12357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878910" y="1531144"/>
            <a:ext cx="1642765" cy="394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T20 Strategic Complexity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878910" y="2038127"/>
            <a:ext cx="1642765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format demands split-second tactical decisions where analytics delivers measurable edge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730800" y="3045321"/>
            <a:ext cx="1904702" cy="1532706"/>
          </a:xfrm>
          <a:prstGeom prst="roundRect">
            <a:avLst>
              <a:gd name="adj" fmla="val 12357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861768" y="3176290"/>
            <a:ext cx="164276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400M+ Global Fans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861768" y="3486001"/>
            <a:ext cx="1642765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Deeper insights drive engagement, viewership, and commercial value at an enormous scale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6747942" y="3045321"/>
            <a:ext cx="1904702" cy="1532706"/>
          </a:xfrm>
          <a:prstGeom prst="roundRect">
            <a:avLst>
              <a:gd name="adj" fmla="val 12357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878910" y="3176290"/>
            <a:ext cx="1642765" cy="394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High-Stakes Business Impact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878910" y="3683273"/>
            <a:ext cx="1642765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Teams invest millions per season — superior analytics translates directly to competitive advantage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1424"/>
            <a:ext cx="8151763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Project Objectives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496119" y="804416"/>
            <a:ext cx="8608963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rigorous data science pipeline — from raw ball-by-ball records to an interactive decision support platform.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1555924"/>
            <a:ext cx="5226695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System Architecture Pipeline</a:t>
            </a:r>
            <a:endParaRPr lang="en-US" sz="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28" y="1743596"/>
            <a:ext cx="5165601" cy="23641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481958" y="3452912"/>
            <a:ext cx="969807" cy="37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Statistical Modeling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259736" y="3452912"/>
            <a:ext cx="969807" cy="37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Feature Engineering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044156" y="3546323"/>
            <a:ext cx="969807" cy="186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Exploratory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02006" y="3452912"/>
            <a:ext cx="969807" cy="37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Ingest &amp; Clean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932959" y="1017836"/>
            <a:ext cx="2719611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Analytics Modules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932959" y="1205508"/>
            <a:ext cx="2719611" cy="876300"/>
          </a:xfrm>
          <a:prstGeom prst="roundRect">
            <a:avLst>
              <a:gd name="adj" fmla="val 14408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21884" y="1294433"/>
            <a:ext cx="252487" cy="252487"/>
          </a:xfrm>
          <a:prstGeom prst="ellipse">
            <a:avLst/>
          </a:prstGeom>
          <a:solidFill>
            <a:srgbClr val="D4CCFA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1312" y="1363787"/>
            <a:ext cx="113630" cy="1136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021884" y="1596851"/>
            <a:ext cx="2541761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Player Intelligence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021884" y="1778273"/>
            <a:ext cx="2541761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Consistency analysis, phase-wise performance, custom impact score</a:t>
            </a:r>
            <a:endParaRPr lang="en-US" sz="650" dirty="0"/>
          </a:p>
        </p:txBody>
      </p:sp>
      <p:sp>
        <p:nvSpPr>
          <p:cNvPr id="16" name="Shape 12"/>
          <p:cNvSpPr/>
          <p:nvPr/>
        </p:nvSpPr>
        <p:spPr>
          <a:xfrm>
            <a:off x="5932959" y="2131740"/>
            <a:ext cx="2719611" cy="768995"/>
          </a:xfrm>
          <a:prstGeom prst="roundRect">
            <a:avLst>
              <a:gd name="adj" fmla="val 16419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21884" y="2220664"/>
            <a:ext cx="252487" cy="252487"/>
          </a:xfrm>
          <a:prstGeom prst="ellipse">
            <a:avLst/>
          </a:prstGeom>
          <a:solidFill>
            <a:srgbClr val="D4CCFA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1312" y="2290018"/>
            <a:ext cx="113630" cy="11363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021884" y="2523083"/>
            <a:ext cx="2541761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Team Intelligence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6021884" y="2704505"/>
            <a:ext cx="2541761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Win probability modeling, toss analysis, chase analysis</a:t>
            </a:r>
            <a:endParaRPr lang="en-US" sz="650" dirty="0"/>
          </a:p>
        </p:txBody>
      </p:sp>
      <p:sp>
        <p:nvSpPr>
          <p:cNvPr id="21" name="Shape 16"/>
          <p:cNvSpPr/>
          <p:nvPr/>
        </p:nvSpPr>
        <p:spPr>
          <a:xfrm>
            <a:off x="5932959" y="2950666"/>
            <a:ext cx="2719611" cy="876300"/>
          </a:xfrm>
          <a:prstGeom prst="roundRect">
            <a:avLst>
              <a:gd name="adj" fmla="val 14408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021884" y="3039591"/>
            <a:ext cx="252487" cy="252487"/>
          </a:xfrm>
          <a:prstGeom prst="ellipse">
            <a:avLst/>
          </a:prstGeom>
          <a:solidFill>
            <a:srgbClr val="D4CCFA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91312" y="3108945"/>
            <a:ext cx="113630" cy="11363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021884" y="3342010"/>
            <a:ext cx="2541761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Venue Intelligence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6021884" y="3523431"/>
            <a:ext cx="2541761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Pitch behaviour patterns, average scores &amp; variance, toss influence</a:t>
            </a:r>
            <a:endParaRPr lang="en-US" sz="650" dirty="0"/>
          </a:p>
        </p:txBody>
      </p:sp>
      <p:sp>
        <p:nvSpPr>
          <p:cNvPr id="26" name="Shape 20"/>
          <p:cNvSpPr/>
          <p:nvPr/>
        </p:nvSpPr>
        <p:spPr>
          <a:xfrm>
            <a:off x="5932959" y="3876898"/>
            <a:ext cx="2719611" cy="768995"/>
          </a:xfrm>
          <a:prstGeom prst="roundRect">
            <a:avLst>
              <a:gd name="adj" fmla="val 16419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021884" y="3965823"/>
            <a:ext cx="252487" cy="252487"/>
          </a:xfrm>
          <a:prstGeom prst="ellipse">
            <a:avLst/>
          </a:prstGeom>
          <a:solidFill>
            <a:srgbClr val="D4CCFA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91312" y="4035177"/>
            <a:ext cx="113630" cy="11363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021884" y="4268242"/>
            <a:ext cx="2541761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Predictive Analytics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6021884" y="4449663"/>
            <a:ext cx="2541761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Match prediction, player form forecasting, player clustering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Overall Project Diagram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682154"/>
            <a:ext cx="2717229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61" y="1001092"/>
            <a:ext cx="257554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The Dataset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566961" y="1133029"/>
            <a:ext cx="2575545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IPL 2008–2026 · 250+ matches · 150K+ deliveries · Player metrics · Venue conditions · Match outcomes · Cleaned &amp; normalized</a:t>
            </a:r>
            <a:endParaRPr lang="en-US" sz="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348" y="682154"/>
            <a:ext cx="2717229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84190" y="1001092"/>
            <a:ext cx="257554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Technology Stack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284190" y="1133029"/>
            <a:ext cx="2575545" cy="255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Core:</a:t>
            </a: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 — dplyr, tidyr, ggplot2, plotly, caret, randomForest, forecast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Dashboard:</a:t>
            </a: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Shiny reactive web app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AI Interface:</a:t>
            </a: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NVIDIA NIM API — NL to R function mapping</a:t>
            </a:r>
            <a:endParaRPr lang="en-US" sz="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578" y="682154"/>
            <a:ext cx="2717229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01420" y="1001092"/>
            <a:ext cx="257554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Key Use Cases</a:t>
            </a:r>
            <a:endParaRPr lang="en-US" sz="650" dirty="0"/>
          </a:p>
        </p:txBody>
      </p:sp>
      <p:sp>
        <p:nvSpPr>
          <p:cNvPr id="11" name="Text 6"/>
          <p:cNvSpPr/>
          <p:nvPr/>
        </p:nvSpPr>
        <p:spPr>
          <a:xfrm>
            <a:off x="6001420" y="1133029"/>
            <a:ext cx="2575545" cy="255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Death Overs Specialist:</a:t>
            </a: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Phase-wise ranked list with strike rate &amp; impact index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Venue Head-to-Head:</a:t>
            </a: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Radar chart + statistical significance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Match Outcome Prediction:</a:t>
            </a: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ML win probability with confidence intervals</a:t>
            </a:r>
            <a:endParaRPr lang="en-US" sz="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1498848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9323"/>
            <a:ext cx="8151763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Deliverables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96119" y="891257"/>
            <a:ext cx="395704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Core Deliverables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1118890"/>
            <a:ext cx="194890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96119" y="1270174"/>
            <a:ext cx="3957042" cy="14288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1347415"/>
            <a:ext cx="395704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Cleaned IPL Dataset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96119" y="1566639"/>
            <a:ext cx="395704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2008–2026, normalized and validated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96119" y="1838251"/>
            <a:ext cx="194890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96119" y="1979861"/>
            <a:ext cx="3957042" cy="14288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10" name="Text 8"/>
          <p:cNvSpPr/>
          <p:nvPr/>
        </p:nvSpPr>
        <p:spPr>
          <a:xfrm>
            <a:off x="496119" y="2066776"/>
            <a:ext cx="395704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Analytics Engine &amp; ML Models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96119" y="2286000"/>
            <a:ext cx="395704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Reproducible R scripts with validation metrics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96119" y="2557611"/>
            <a:ext cx="194890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96119" y="2689473"/>
            <a:ext cx="3957042" cy="14288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14" name="Text 12"/>
          <p:cNvSpPr/>
          <p:nvPr/>
        </p:nvSpPr>
        <p:spPr>
          <a:xfrm>
            <a:off x="496119" y="2786137"/>
            <a:ext cx="395704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Interactive Shiny Dashboard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6119" y="3005361"/>
            <a:ext cx="395704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Real-time exploration, filtering, and visual discovery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96119" y="3276972"/>
            <a:ext cx="194890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04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96119" y="3399160"/>
            <a:ext cx="3957042" cy="14288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18" name="Text 16"/>
          <p:cNvSpPr/>
          <p:nvPr/>
        </p:nvSpPr>
        <p:spPr>
          <a:xfrm>
            <a:off x="496119" y="3505498"/>
            <a:ext cx="395704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Natural Language Query Assistant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6119" y="3724721"/>
            <a:ext cx="395704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Conversational interface powered by NVIDIA NIM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96119" y="3996333"/>
            <a:ext cx="194890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05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96119" y="4108772"/>
            <a:ext cx="3957042" cy="14288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22" name="Text 20"/>
          <p:cNvSpPr/>
          <p:nvPr/>
        </p:nvSpPr>
        <p:spPr>
          <a:xfrm>
            <a:off x="496119" y="4224858"/>
            <a:ext cx="395704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Technical Report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6119" y="4444082"/>
            <a:ext cx="395704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Full documentation with model validation and methodology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695602" y="891257"/>
            <a:ext cx="395704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Expected Outcomes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95602" y="1167482"/>
            <a:ext cx="1945035" cy="618083"/>
          </a:xfrm>
          <a:prstGeom prst="roundRect">
            <a:avLst>
              <a:gd name="adj" fmla="val 23653"/>
            </a:avLst>
          </a:prstGeom>
          <a:solidFill>
            <a:srgbClr val="FFFFFF"/>
          </a:solidFill>
          <a:ln w="14288">
            <a:solidFill>
              <a:srgbClr val="B3D5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7297" y="1230585"/>
            <a:ext cx="1721644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Fully functional analytics platform with predictive models and interactive dashboards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707609" y="1167482"/>
            <a:ext cx="1945035" cy="618083"/>
          </a:xfrm>
          <a:prstGeom prst="roundRect">
            <a:avLst>
              <a:gd name="adj" fmla="val 23653"/>
            </a:avLst>
          </a:prstGeom>
          <a:solidFill>
            <a:srgbClr val="FFFFFF"/>
          </a:solidFill>
          <a:ln w="14288">
            <a:solidFill>
              <a:srgbClr val="B3D5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9305" y="1230585"/>
            <a:ext cx="1721644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Data-driven decision support for teams, coaches, and analysts — backed by statistical rigor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695602" y="1812354"/>
            <a:ext cx="395704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Future Roadmap</a:t>
            </a:r>
            <a:endParaRPr lang="en-US" sz="95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2139" y="2093342"/>
            <a:ext cx="146149" cy="146149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012234" y="2039987"/>
            <a:ext cx="3640410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Real-time match analytics and mobile application</a:t>
            </a:r>
            <a:endParaRPr lang="en-US" sz="75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2139" y="2524423"/>
            <a:ext cx="146149" cy="146149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012234" y="2471068"/>
            <a:ext cx="3640410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Multi-league expansion — BBL, PSL, and international formats</a:t>
            </a:r>
            <a:endParaRPr lang="en-US" sz="750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2139" y="2955503"/>
            <a:ext cx="146149" cy="146149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012234" y="2902148"/>
            <a:ext cx="3640410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Fantasy XI recommendation engine powered by player clustering models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483</Words>
  <Application>Microsoft Office PowerPoint</Application>
  <PresentationFormat>On-screen Show (16:9)</PresentationFormat>
  <Paragraphs>88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Manrope</vt:lpstr>
      <vt:lpstr>Manrope Bold</vt:lpstr>
      <vt:lpstr>Arial</vt:lpstr>
      <vt:lpstr>Alexandria Light</vt:lpstr>
      <vt:lpstr>Alexandria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Barath T</dc:creator>
  <cp:lastModifiedBy>Barath T</cp:lastModifiedBy>
  <cp:revision>2</cp:revision>
  <dcterms:created xsi:type="dcterms:W3CDTF">2026-08-03T17:10:30Z</dcterms:created>
  <dcterms:modified xsi:type="dcterms:W3CDTF">2026-08-04T17:41:16Z</dcterms:modified>
</cp:coreProperties>
</file>